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E7F0"/>
    <a:srgbClr val="F709A8"/>
    <a:srgbClr val="39B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>
        <p:scale>
          <a:sx n="77" d="100"/>
          <a:sy n="77" d="100"/>
        </p:scale>
        <p:origin x="18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86E29-F9B3-BC53-02F9-1D09BCCA2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CA0E2-C657-DBE8-588B-A2DE11FC8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D5568-ADA6-74C2-08A2-7102A3EC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36A5C-79F5-892B-16A9-DBAE5F38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10A27-81F7-4859-E3A3-6F5A9832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4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1A09-EAD4-5940-8EA3-291B078E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FA9B9-0D1F-52E1-8D23-7AB76904D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82A3C-0DA1-379C-FD34-41F4255E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892F9-A52D-0A96-637D-8FF8919C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614BF-82A8-450E-1CF5-E2182BA3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29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35C0E-93CF-5D66-9563-5CE23C0B8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7F201-993E-ABC2-E749-80A1A8ED0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FD62A-4F21-0A02-2DB0-83A73FE4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3C3BC-ED64-11B6-13E7-B419A9A1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F4679-06F3-D3FC-52BA-704BE728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420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622-1A48-6DAE-B1E2-3D2947E89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F73C5-A1F9-269D-C239-70F9EDB94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13B88-1B8E-3263-8945-72DF56F6B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EDC13-9D3A-171F-C5F5-7F0ED985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8B06E-A4A3-A9D9-0CCB-F478AAD2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A297B-E97E-2B23-8808-2F2BC111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00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47216-B472-7A2D-A024-FB996503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935CB-0089-3558-905C-795E6B56F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9D720-2D89-997C-F6B9-AFB9FC7F4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3362A-D98C-996C-F89A-AAE997E3E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936BCF-D113-27B7-BD50-2F022AEB30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E43AF-F891-1D62-970C-BB0008F3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342EE5-10E2-0641-773F-1108130C7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1F484-D263-1F72-5BC7-759F7993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16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52CD3-A4AB-8EFC-E037-61614DC5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C05C0-CCD8-68DF-706A-6A6978814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41966C-AACE-1208-737B-FE009132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E2614-5FC0-9821-3D03-723B633B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729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210616-4819-1054-1723-D029028A8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8F7512-0167-3EBD-A364-50B1EF97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62710-FD5A-A554-B62F-C3A9764AF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723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ECC0-1412-CACB-3EC8-7F71A21E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F1D92-5F37-004D-922A-E8E407A2E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28827-9DB1-E506-0404-2FA441984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1E4AA-FFF6-7143-2168-762C5A77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444D2-4DEA-C470-BE2F-CADFBA333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B4C7A-76B7-19F7-6363-9D1F62FDF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9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D1388-EEE8-B9B2-978B-6713F8A4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76278C-1ECB-D92D-05C1-AABC4FFE6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2D2E5-2464-E05F-6B33-96AF800D8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71415-3AA5-355E-0497-5576C9DC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64713-1BB5-CF95-DD97-4F559559C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1D9F3-ACC6-8F15-8049-DA29A199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42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6EEC-948A-FCEE-1EBF-D6F34BCCD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BC13A-34C3-F1B6-9D6C-05311EDEC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AC252-F5D7-5D09-F8A6-C3136AE5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6FB4-E4A2-F335-BCC6-FD369F7E5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3AC74-E786-18F9-A69C-99525E3A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563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2786A-9686-06EA-7AE1-16F962781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1C15D-3295-1763-D46A-50A9B409F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62FB-EFE5-119D-931A-1A3999EC4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8973E-2829-1F1C-89E1-B674B70A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77727-0838-23A0-54E3-D4294962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4206E3-A5E8-EE53-11AC-0D0564225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8DF49-BF57-0238-6060-FEA83BD8E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10AC8-CFA6-8183-512E-C9DF643ED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3733B-3211-4569-BA5A-E6B6A9F0405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3921A-5BB9-E1AB-6724-6681856EF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26BA9-66C1-F6DA-D1AE-7E532D6DD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9F7AF-B42F-4671-A494-3B370DB65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41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jpeg"/><Relationship Id="rId7" Type="http://schemas.openxmlformats.org/officeDocument/2006/relationships/image" Target="../media/image1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2.wdp"/><Relationship Id="rId7" Type="http://schemas.microsoft.com/office/2007/relationships/hdphoto" Target="../media/hdphoto3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jpe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gif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  <a:alpha val="84000"/>
              </a:schemeClr>
            </a:gs>
            <a:gs pos="23000">
              <a:srgbClr val="002060"/>
            </a:gs>
            <a:gs pos="69000">
              <a:schemeClr val="accent5">
                <a:lumMod val="50000"/>
              </a:schemeClr>
            </a:gs>
            <a:gs pos="97000">
              <a:schemeClr val="accent5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2E0D6C-0A3F-6549-5E19-AE5D4E25B9E8}"/>
              </a:ext>
            </a:extLst>
          </p:cNvPr>
          <p:cNvSpPr txBox="1"/>
          <p:nvPr/>
        </p:nvSpPr>
        <p:spPr>
          <a:xfrm>
            <a:off x="3028336" y="167147"/>
            <a:ext cx="5919020" cy="646331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sz="36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8" descr="Business intelligence report cover design">
            <a:extLst>
              <a:ext uri="{FF2B5EF4-FFF2-40B4-BE49-F238E27FC236}">
                <a16:creationId xmlns:a16="http://schemas.microsoft.com/office/drawing/2014/main" id="{DA92124B-3FAC-395B-DFFB-AF85DFA197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577644"/>
            <a:ext cx="3003756" cy="3003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16" descr="Generated image: Supply chain analysis infographic design">
            <a:extLst>
              <a:ext uri="{FF2B5EF4-FFF2-40B4-BE49-F238E27FC236}">
                <a16:creationId xmlns:a16="http://schemas.microsoft.com/office/drawing/2014/main" id="{A2E22ED6-BB73-01AF-654F-CD5227A0FA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B60E5C-3704-4C15-58EC-9BFB1D3916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53" y="0"/>
            <a:ext cx="10287000" cy="6858000"/>
          </a:xfrm>
          <a:prstGeom prst="rect">
            <a:avLst/>
          </a:prstGeom>
          <a:effectLst>
            <a:reflection stA="95000" endPos="0" dist="50800" dir="5400000" sy="-100000" algn="bl" rotWithShape="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F4C54F-BC60-A689-7253-CACD3B38B1B8}"/>
              </a:ext>
            </a:extLst>
          </p:cNvPr>
          <p:cNvSpPr txBox="1"/>
          <p:nvPr/>
        </p:nvSpPr>
        <p:spPr>
          <a:xfrm>
            <a:off x="5312464" y="5675190"/>
            <a:ext cx="227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23000">
                      <a:srgbClr val="002060"/>
                    </a:gs>
                    <a:gs pos="69000">
                      <a:schemeClr val="accent5">
                        <a:lumMod val="50000"/>
                      </a:schemeClr>
                    </a:gs>
                    <a:gs pos="97000">
                      <a:schemeClr val="accent5">
                        <a:lumMod val="50000"/>
                      </a:schemeClr>
                    </a:gs>
                  </a:gsLst>
                  <a:lin ang="27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7E9564-C3EE-3955-7D43-F4E945771064}"/>
              </a:ext>
            </a:extLst>
          </p:cNvPr>
          <p:cNvSpPr txBox="1"/>
          <p:nvPr/>
        </p:nvSpPr>
        <p:spPr>
          <a:xfrm>
            <a:off x="5225497" y="609569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23000">
                      <a:srgbClr val="002060"/>
                    </a:gs>
                    <a:gs pos="69000">
                      <a:schemeClr val="accent5">
                        <a:lumMod val="50000"/>
                      </a:schemeClr>
                    </a:gs>
                    <a:gs pos="97000">
                      <a:schemeClr val="accent5">
                        <a:lumMod val="50000"/>
                      </a:schemeClr>
                    </a:gs>
                  </a:gsLst>
                  <a:lin ang="27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Sahana Srinivasa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581DA7-223A-FF33-FE02-F34DB8EB9B2F}"/>
              </a:ext>
            </a:extLst>
          </p:cNvPr>
          <p:cNvCxnSpPr/>
          <p:nvPr/>
        </p:nvCxnSpPr>
        <p:spPr>
          <a:xfrm>
            <a:off x="6917635" y="5875245"/>
            <a:ext cx="1798982" cy="0"/>
          </a:xfrm>
          <a:prstGeom prst="line">
            <a:avLst/>
          </a:prstGeom>
          <a:ln w="19050">
            <a:gradFill>
              <a:gsLst>
                <a:gs pos="0">
                  <a:srgbClr val="00B0F0"/>
                </a:gs>
                <a:gs pos="74000">
                  <a:srgbClr val="0070C0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EA7D4E-F31A-34C2-1110-1F55882FA42B}"/>
              </a:ext>
            </a:extLst>
          </p:cNvPr>
          <p:cNvCxnSpPr/>
          <p:nvPr/>
        </p:nvCxnSpPr>
        <p:spPr>
          <a:xfrm>
            <a:off x="3513482" y="5869838"/>
            <a:ext cx="1798982" cy="0"/>
          </a:xfrm>
          <a:prstGeom prst="line">
            <a:avLst/>
          </a:prstGeom>
          <a:ln w="19050">
            <a:gradFill>
              <a:gsLst>
                <a:gs pos="0">
                  <a:srgbClr val="00B0F0"/>
                </a:gs>
                <a:gs pos="74000">
                  <a:srgbClr val="0070C0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970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0" descr="This may contain: an arrow is going up to the target on a white background with red and green arrows">
            <a:extLst>
              <a:ext uri="{FF2B5EF4-FFF2-40B4-BE49-F238E27FC236}">
                <a16:creationId xmlns:a16="http://schemas.microsoft.com/office/drawing/2014/main" id="{E5766CF6-C454-CDAF-A881-02BAC9402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03" y="1527781"/>
            <a:ext cx="11287432" cy="526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This may contain: an abstract blue background with gears and other technology related items in the center, on top of it">
            <a:extLst>
              <a:ext uri="{FF2B5EF4-FFF2-40B4-BE49-F238E27FC236}">
                <a16:creationId xmlns:a16="http://schemas.microsoft.com/office/drawing/2014/main" id="{3B6C0EEC-EA0E-FE6F-B161-9782084CD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18" y="61612"/>
            <a:ext cx="11467082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" descr="Goal ">
            <a:extLst>
              <a:ext uri="{FF2B5EF4-FFF2-40B4-BE49-F238E27FC236}">
                <a16:creationId xmlns:a16="http://schemas.microsoft.com/office/drawing/2014/main" id="{CCCBD09F-7D60-137F-F14B-C5EA638B7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56" y="61612"/>
            <a:ext cx="934725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A9C28AC9-AE80-A2D2-1B1F-7FF754BA8D41}"/>
              </a:ext>
            </a:extLst>
          </p:cNvPr>
          <p:cNvSpPr/>
          <p:nvPr/>
        </p:nvSpPr>
        <p:spPr>
          <a:xfrm>
            <a:off x="1304085" y="173392"/>
            <a:ext cx="226863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Objective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0A4608E-CDC6-D70C-D8D8-360FF5A9AC5F}"/>
              </a:ext>
            </a:extLst>
          </p:cNvPr>
          <p:cNvSpPr txBox="1"/>
          <p:nvPr/>
        </p:nvSpPr>
        <p:spPr>
          <a:xfrm>
            <a:off x="648929" y="4284718"/>
            <a:ext cx="2925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Analyze end-to-end supply chain across 100 SKUs</a:t>
            </a:r>
            <a:endParaRPr lang="en-IN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F3C4A46-889A-B57B-3A40-CF7AD6F24BE4}"/>
              </a:ext>
            </a:extLst>
          </p:cNvPr>
          <p:cNvSpPr txBox="1"/>
          <p:nvPr/>
        </p:nvSpPr>
        <p:spPr>
          <a:xfrm>
            <a:off x="6548284" y="4100052"/>
            <a:ext cx="66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E35C01C-1BCE-EB39-F491-989F072CA7C8}"/>
              </a:ext>
            </a:extLst>
          </p:cNvPr>
          <p:cNvSpPr txBox="1"/>
          <p:nvPr/>
        </p:nvSpPr>
        <p:spPr>
          <a:xfrm>
            <a:off x="5638800" y="297425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DD70133-FDC3-0AB1-EBED-F4F131F3995F}"/>
              </a:ext>
            </a:extLst>
          </p:cNvPr>
          <p:cNvSpPr txBox="1"/>
          <p:nvPr/>
        </p:nvSpPr>
        <p:spPr>
          <a:xfrm>
            <a:off x="3322262" y="5685191"/>
            <a:ext cx="331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Analyze Financial Health &amp; Revenue Risk Exposure</a:t>
            </a:r>
            <a:endParaRPr lang="en-IN" b="1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59BC4D-C474-D1BE-AEBE-FD714FD4A946}"/>
              </a:ext>
            </a:extLst>
          </p:cNvPr>
          <p:cNvSpPr txBox="1"/>
          <p:nvPr/>
        </p:nvSpPr>
        <p:spPr>
          <a:xfrm>
            <a:off x="5638800" y="5869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B0FBDB9-38AC-EB30-2DC9-666EE302DB26}"/>
              </a:ext>
            </a:extLst>
          </p:cNvPr>
          <p:cNvSpPr txBox="1"/>
          <p:nvPr/>
        </p:nvSpPr>
        <p:spPr>
          <a:xfrm>
            <a:off x="3564193" y="2651092"/>
            <a:ext cx="331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22AB290-4570-2646-2DD2-D83051D23885}"/>
              </a:ext>
            </a:extLst>
          </p:cNvPr>
          <p:cNvSpPr txBox="1"/>
          <p:nvPr/>
        </p:nvSpPr>
        <p:spPr>
          <a:xfrm>
            <a:off x="4812678" y="3380827"/>
            <a:ext cx="331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Diagnose Quality &amp; Inventory Control Issues</a:t>
            </a:r>
            <a:endParaRPr lang="en-IN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7FF16E-3B86-2191-70D7-0AB31E76369F}"/>
              </a:ext>
            </a:extLst>
          </p:cNvPr>
          <p:cNvSpPr txBox="1"/>
          <p:nvPr/>
        </p:nvSpPr>
        <p:spPr>
          <a:xfrm>
            <a:off x="6733015" y="5038860"/>
            <a:ext cx="4449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Drive Data-Driven Prescriptive Actions for Business Growth</a:t>
            </a:r>
            <a:endParaRPr lang="en-IN" b="1" dirty="0"/>
          </a:p>
        </p:txBody>
      </p:sp>
      <p:pic>
        <p:nvPicPr>
          <p:cNvPr id="2074" name="Picture 26" descr="1 ">
            <a:extLst>
              <a:ext uri="{FF2B5EF4-FFF2-40B4-BE49-F238E27FC236}">
                <a16:creationId xmlns:a16="http://schemas.microsoft.com/office/drawing/2014/main" id="{837EE3BE-EC05-F31A-A716-3406CC1C9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431" y="4678457"/>
            <a:ext cx="651762" cy="65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Two ">
            <a:extLst>
              <a:ext uri="{FF2B5EF4-FFF2-40B4-BE49-F238E27FC236}">
                <a16:creationId xmlns:a16="http://schemas.microsoft.com/office/drawing/2014/main" id="{7B687A98-1540-0117-B184-3B3735AFF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889" y="5075591"/>
            <a:ext cx="651761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2" name="Picture 34" descr="Number 3 ">
            <a:extLst>
              <a:ext uri="{FF2B5EF4-FFF2-40B4-BE49-F238E27FC236}">
                <a16:creationId xmlns:a16="http://schemas.microsoft.com/office/drawing/2014/main" id="{6192AEE1-5302-142D-CC2E-C844968C0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858" y="3994121"/>
            <a:ext cx="668593" cy="59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6" name="Picture 38" descr="Number 4 ">
            <a:extLst>
              <a:ext uri="{FF2B5EF4-FFF2-40B4-BE49-F238E27FC236}">
                <a16:creationId xmlns:a16="http://schemas.microsoft.com/office/drawing/2014/main" id="{27BE3626-AEF4-36B8-CE14-60E5CE821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421" y="4866802"/>
            <a:ext cx="668594" cy="55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11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4" descr="This may contain: an abstract blue background with gears and other technology related items in the center, on top of it">
            <a:extLst>
              <a:ext uri="{FF2B5EF4-FFF2-40B4-BE49-F238E27FC236}">
                <a16:creationId xmlns:a16="http://schemas.microsoft.com/office/drawing/2014/main" id="{476EA576-7C29-0293-44D9-3E1900924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18" y="61612"/>
            <a:ext cx="11467082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CA7C4A-25C4-9C9A-0686-BEC32D307DCB}"/>
              </a:ext>
            </a:extLst>
          </p:cNvPr>
          <p:cNvSpPr txBox="1"/>
          <p:nvPr/>
        </p:nvSpPr>
        <p:spPr>
          <a:xfrm>
            <a:off x="724918" y="17339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Overview Dashboard</a:t>
            </a:r>
          </a:p>
        </p:txBody>
      </p:sp>
      <p:pic>
        <p:nvPicPr>
          <p:cNvPr id="3076" name="Picture 4" descr="Research ">
            <a:extLst>
              <a:ext uri="{FF2B5EF4-FFF2-40B4-BE49-F238E27FC236}">
                <a16:creationId xmlns:a16="http://schemas.microsoft.com/office/drawing/2014/main" id="{A410D848-5FB0-6BFC-59E4-3D09FD464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89" y="61612"/>
            <a:ext cx="951482" cy="95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D0DB7D-42A8-19B0-4217-0B21A994A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84" y="1104837"/>
            <a:ext cx="11906864" cy="557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0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 descr="This may contain: an abstract blue background with gears and other technology related items in the center, on top of it">
            <a:extLst>
              <a:ext uri="{FF2B5EF4-FFF2-40B4-BE49-F238E27FC236}">
                <a16:creationId xmlns:a16="http://schemas.microsoft.com/office/drawing/2014/main" id="{CF932914-4BD9-89DA-2CBE-06F1294C5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18" y="61612"/>
            <a:ext cx="11467082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Analysis ">
            <a:extLst>
              <a:ext uri="{FF2B5EF4-FFF2-40B4-BE49-F238E27FC236}">
                <a16:creationId xmlns:a16="http://schemas.microsoft.com/office/drawing/2014/main" id="{CCB9EC39-2714-3D0E-93EA-DFC588FB4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95" y="61612"/>
            <a:ext cx="931446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EFAEB3-4871-76F3-7626-1484752FCA42}"/>
              </a:ext>
            </a:extLst>
          </p:cNvPr>
          <p:cNvSpPr txBox="1"/>
          <p:nvPr/>
        </p:nvSpPr>
        <p:spPr>
          <a:xfrm>
            <a:off x="481780" y="17339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Executive Summary</a:t>
            </a:r>
            <a:endParaRPr lang="en-US" sz="40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4121" name="Picture 12">
            <a:extLst>
              <a:ext uri="{FF2B5EF4-FFF2-40B4-BE49-F238E27FC236}">
                <a16:creationId xmlns:a16="http://schemas.microsoft.com/office/drawing/2014/main" id="{2DCDAB5D-1DE8-AC66-6947-1F570DA4F3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3" t="2839" r="4503" b="5058"/>
          <a:stretch>
            <a:fillRect/>
          </a:stretch>
        </p:blipFill>
        <p:spPr bwMode="auto">
          <a:xfrm>
            <a:off x="259195" y="1104838"/>
            <a:ext cx="9537290" cy="569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27" name="Rectangle 4126">
            <a:extLst>
              <a:ext uri="{FF2B5EF4-FFF2-40B4-BE49-F238E27FC236}">
                <a16:creationId xmlns:a16="http://schemas.microsoft.com/office/drawing/2014/main" id="{7F0F8F66-8950-4D30-94D9-D23B53E0D08D}"/>
              </a:ext>
            </a:extLst>
          </p:cNvPr>
          <p:cNvSpPr/>
          <p:nvPr/>
        </p:nvSpPr>
        <p:spPr>
          <a:xfrm>
            <a:off x="724918" y="1183062"/>
            <a:ext cx="162232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Revenue &amp; Profitibility</a:t>
            </a:r>
            <a:endParaRPr lang="en-IN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134" name="Rectangle 4133">
            <a:extLst>
              <a:ext uri="{FF2B5EF4-FFF2-40B4-BE49-F238E27FC236}">
                <a16:creationId xmlns:a16="http://schemas.microsoft.com/office/drawing/2014/main" id="{F8FB587B-A295-F209-CDDE-8F9A1895E8F4}"/>
              </a:ext>
            </a:extLst>
          </p:cNvPr>
          <p:cNvSpPr/>
          <p:nvPr/>
        </p:nvSpPr>
        <p:spPr>
          <a:xfrm>
            <a:off x="773193" y="3136612"/>
            <a:ext cx="162232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Quality Control Crisis</a:t>
            </a:r>
          </a:p>
        </p:txBody>
      </p:sp>
      <p:sp>
        <p:nvSpPr>
          <p:cNvPr id="4135" name="Rectangle 4134">
            <a:extLst>
              <a:ext uri="{FF2B5EF4-FFF2-40B4-BE49-F238E27FC236}">
                <a16:creationId xmlns:a16="http://schemas.microsoft.com/office/drawing/2014/main" id="{FCE6F068-6C49-DAB0-AEED-74177FDCA260}"/>
              </a:ext>
            </a:extLst>
          </p:cNvPr>
          <p:cNvSpPr/>
          <p:nvPr/>
        </p:nvSpPr>
        <p:spPr>
          <a:xfrm>
            <a:off x="819129" y="2282947"/>
            <a:ext cx="152811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 dirty="0">
                <a:ln/>
                <a:solidFill>
                  <a:schemeClr val="accent3"/>
                </a:solidFill>
                <a:effectLst/>
              </a:rPr>
              <a:t>Revenue at Risk</a:t>
            </a:r>
          </a:p>
        </p:txBody>
      </p:sp>
      <p:sp>
        <p:nvSpPr>
          <p:cNvPr id="4137" name="Rectangle 4136">
            <a:extLst>
              <a:ext uri="{FF2B5EF4-FFF2-40B4-BE49-F238E27FC236}">
                <a16:creationId xmlns:a16="http://schemas.microsoft.com/office/drawing/2014/main" id="{B09386FD-ECC4-2F5A-EF1B-A6269A8C66CC}"/>
              </a:ext>
            </a:extLst>
          </p:cNvPr>
          <p:cNvSpPr/>
          <p:nvPr/>
        </p:nvSpPr>
        <p:spPr>
          <a:xfrm>
            <a:off x="847623" y="4236498"/>
            <a:ext cx="156844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Delivery delays</a:t>
            </a:r>
            <a:endParaRPr lang="en-US" sz="1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138" name="Rectangle 4137">
            <a:extLst>
              <a:ext uri="{FF2B5EF4-FFF2-40B4-BE49-F238E27FC236}">
                <a16:creationId xmlns:a16="http://schemas.microsoft.com/office/drawing/2014/main" id="{C17E0A16-1A9A-DEEF-B454-F7F631124D3C}"/>
              </a:ext>
            </a:extLst>
          </p:cNvPr>
          <p:cNvSpPr/>
          <p:nvPr/>
        </p:nvSpPr>
        <p:spPr>
          <a:xfrm>
            <a:off x="654506" y="5100944"/>
            <a:ext cx="176314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Recovery Opportunity</a:t>
            </a:r>
          </a:p>
        </p:txBody>
      </p:sp>
      <p:sp>
        <p:nvSpPr>
          <p:cNvPr id="4140" name="TextBox 4139">
            <a:extLst>
              <a:ext uri="{FF2B5EF4-FFF2-40B4-BE49-F238E27FC236}">
                <a16:creationId xmlns:a16="http://schemas.microsoft.com/office/drawing/2014/main" id="{9449C903-3043-4701-0330-6302746F98A8}"/>
              </a:ext>
            </a:extLst>
          </p:cNvPr>
          <p:cNvSpPr txBox="1"/>
          <p:nvPr/>
        </p:nvSpPr>
        <p:spPr>
          <a:xfrm>
            <a:off x="252968" y="6099833"/>
            <a:ext cx="25662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Strategic Recommendation</a:t>
            </a:r>
          </a:p>
        </p:txBody>
      </p:sp>
      <p:sp>
        <p:nvSpPr>
          <p:cNvPr id="4141" name="TextBox 4140">
            <a:extLst>
              <a:ext uri="{FF2B5EF4-FFF2-40B4-BE49-F238E27FC236}">
                <a16:creationId xmlns:a16="http://schemas.microsoft.com/office/drawing/2014/main" id="{4C92ECEA-AE90-441C-0B17-4BEB38324AC1}"/>
              </a:ext>
            </a:extLst>
          </p:cNvPr>
          <p:cNvSpPr txBox="1"/>
          <p:nvPr/>
        </p:nvSpPr>
        <p:spPr>
          <a:xfrm>
            <a:off x="3085644" y="1183061"/>
            <a:ext cx="617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dataset reflects </a:t>
            </a:r>
            <a:r>
              <a:rPr lang="en-US" sz="1600" b="1" dirty="0"/>
              <a:t>$577K in revenue</a:t>
            </a:r>
            <a:r>
              <a:rPr lang="en-US" sz="1600" dirty="0"/>
              <a:t> with a healthy </a:t>
            </a:r>
            <a:r>
              <a:rPr lang="en-US" sz="1600" b="1" dirty="0"/>
              <a:t>90% profit margin</a:t>
            </a:r>
            <a:r>
              <a:rPr lang="en-US" sz="1600" dirty="0"/>
              <a:t> — well above the industry average of 72%</a:t>
            </a:r>
            <a:endParaRPr lang="en-IN" sz="1600" dirty="0"/>
          </a:p>
        </p:txBody>
      </p:sp>
      <p:sp>
        <p:nvSpPr>
          <p:cNvPr id="4143" name="TextBox 4142">
            <a:extLst>
              <a:ext uri="{FF2B5EF4-FFF2-40B4-BE49-F238E27FC236}">
                <a16:creationId xmlns:a16="http://schemas.microsoft.com/office/drawing/2014/main" id="{9A7F84ED-0EC4-5054-485A-6CD06FE61429}"/>
              </a:ext>
            </a:extLst>
          </p:cNvPr>
          <p:cNvSpPr txBox="1"/>
          <p:nvPr/>
        </p:nvSpPr>
        <p:spPr>
          <a:xfrm>
            <a:off x="3188882" y="2159836"/>
            <a:ext cx="6390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Nearly half the total revenue (</a:t>
            </a:r>
            <a:r>
              <a:rPr lang="en-US" sz="1600" b="1" dirty="0"/>
              <a:t>$273K</a:t>
            </a:r>
            <a:r>
              <a:rPr lang="en-US" sz="1600" dirty="0"/>
              <a:t>) is at risk — driven by quality inspection failures and critically low stock levels</a:t>
            </a:r>
            <a:endParaRPr lang="en-IN" sz="1600" dirty="0"/>
          </a:p>
        </p:txBody>
      </p:sp>
      <p:sp>
        <p:nvSpPr>
          <p:cNvPr id="4144" name="TextBox 4143">
            <a:extLst>
              <a:ext uri="{FF2B5EF4-FFF2-40B4-BE49-F238E27FC236}">
                <a16:creationId xmlns:a16="http://schemas.microsoft.com/office/drawing/2014/main" id="{DE3DC9A0-CAAC-1952-0A00-43C3AA185215}"/>
              </a:ext>
            </a:extLst>
          </p:cNvPr>
          <p:cNvSpPr txBox="1"/>
          <p:nvPr/>
        </p:nvSpPr>
        <p:spPr>
          <a:xfrm>
            <a:off x="3149553" y="3136612"/>
            <a:ext cx="6390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Only </a:t>
            </a:r>
            <a:r>
              <a:rPr lang="en-US" sz="1600" b="1" dirty="0"/>
              <a:t>23 out of 100 SKUs</a:t>
            </a:r>
            <a:r>
              <a:rPr lang="en-US" sz="1600" dirty="0"/>
              <a:t> have passed quality inspection — 77 are either failed or pending review, signaling a systemic quality gap</a:t>
            </a:r>
            <a:endParaRPr lang="en-IN" sz="1600" dirty="0"/>
          </a:p>
        </p:txBody>
      </p:sp>
      <p:sp>
        <p:nvSpPr>
          <p:cNvPr id="4145" name="TextBox 4144">
            <a:extLst>
              <a:ext uri="{FF2B5EF4-FFF2-40B4-BE49-F238E27FC236}">
                <a16:creationId xmlns:a16="http://schemas.microsoft.com/office/drawing/2014/main" id="{D2468BE9-5276-4809-C49D-7FBAA00E9E3A}"/>
              </a:ext>
            </a:extLst>
          </p:cNvPr>
          <p:cNvSpPr txBox="1"/>
          <p:nvPr/>
        </p:nvSpPr>
        <p:spPr>
          <a:xfrm>
            <a:off x="3085643" y="4148060"/>
            <a:ext cx="6390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Average fulfillment time stands at </a:t>
            </a:r>
            <a:r>
              <a:rPr lang="en-US" sz="1600" b="1" dirty="0"/>
              <a:t>17 days</a:t>
            </a:r>
            <a:r>
              <a:rPr lang="en-US" sz="1600" dirty="0"/>
              <a:t> — with 14.8 days consumed in manufacturing alone, leaving minimal buffer for delivery</a:t>
            </a:r>
            <a:endParaRPr lang="en-IN" sz="1600" dirty="0"/>
          </a:p>
        </p:txBody>
      </p:sp>
      <p:sp>
        <p:nvSpPr>
          <p:cNvPr id="4146" name="TextBox 4145">
            <a:extLst>
              <a:ext uri="{FF2B5EF4-FFF2-40B4-BE49-F238E27FC236}">
                <a16:creationId xmlns:a16="http://schemas.microsoft.com/office/drawing/2014/main" id="{945120F5-51E9-1146-9F35-A35840958DDD}"/>
              </a:ext>
            </a:extLst>
          </p:cNvPr>
          <p:cNvSpPr txBox="1"/>
          <p:nvPr/>
        </p:nvSpPr>
        <p:spPr>
          <a:xfrm>
            <a:off x="3049870" y="5081112"/>
            <a:ext cx="6390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Route optimization, stock replenishment and quality fixes present a clear opportunity to recover up to </a:t>
            </a:r>
            <a:r>
              <a:rPr lang="en-US" sz="1600" b="1" dirty="0"/>
              <a:t>$125K</a:t>
            </a:r>
            <a:r>
              <a:rPr lang="en-US" sz="1600" dirty="0"/>
              <a:t> in revenue</a:t>
            </a:r>
            <a:endParaRPr lang="en-IN" sz="1600" b="1" dirty="0"/>
          </a:p>
        </p:txBody>
      </p:sp>
      <p:sp>
        <p:nvSpPr>
          <p:cNvPr id="4147" name="TextBox 4146">
            <a:extLst>
              <a:ext uri="{FF2B5EF4-FFF2-40B4-BE49-F238E27FC236}">
                <a16:creationId xmlns:a16="http://schemas.microsoft.com/office/drawing/2014/main" id="{E3364841-37F1-2485-7DFE-1CB3A3AF3A06}"/>
              </a:ext>
            </a:extLst>
          </p:cNvPr>
          <p:cNvSpPr txBox="1"/>
          <p:nvPr/>
        </p:nvSpPr>
        <p:spPr>
          <a:xfrm>
            <a:off x="3049870" y="6076663"/>
            <a:ext cx="6280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Prioritizing quality control and inventory management delivers the </a:t>
            </a:r>
            <a:r>
              <a:rPr lang="en-US" sz="1600" b="1" dirty="0"/>
              <a:t>highest return on the lowest investment</a:t>
            </a:r>
            <a:r>
              <a:rPr lang="en-US" sz="1600" dirty="0"/>
              <a:t> across this supply chain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3242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 descr="This may contain: an abstract blue background with gears and other technology related items in the center, on top of it">
            <a:extLst>
              <a:ext uri="{FF2B5EF4-FFF2-40B4-BE49-F238E27FC236}">
                <a16:creationId xmlns:a16="http://schemas.microsoft.com/office/drawing/2014/main" id="{E824F74D-4172-0468-CECD-9F179F61C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18" y="61612"/>
            <a:ext cx="11467082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EC07E6-81AF-765D-DB12-E23D4F6580D1}"/>
              </a:ext>
            </a:extLst>
          </p:cNvPr>
          <p:cNvSpPr txBox="1"/>
          <p:nvPr/>
        </p:nvSpPr>
        <p:spPr>
          <a:xfrm>
            <a:off x="724918" y="17339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Finance Overview</a:t>
            </a:r>
          </a:p>
        </p:txBody>
      </p:sp>
      <p:pic>
        <p:nvPicPr>
          <p:cNvPr id="5122" name="Picture 2" descr="Salary ">
            <a:extLst>
              <a:ext uri="{FF2B5EF4-FFF2-40B4-BE49-F238E27FC236}">
                <a16:creationId xmlns:a16="http://schemas.microsoft.com/office/drawing/2014/main" id="{12617BBB-C308-56EA-18BE-82DF4B97B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95" y="61612"/>
            <a:ext cx="931446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2CA606-A762-9D35-98BA-7F2217C5F0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" y="1104838"/>
            <a:ext cx="11936362" cy="557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65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 descr="This may contain: an abstract blue background with gears and other technology related items in the center, on top of it">
            <a:extLst>
              <a:ext uri="{FF2B5EF4-FFF2-40B4-BE49-F238E27FC236}">
                <a16:creationId xmlns:a16="http://schemas.microsoft.com/office/drawing/2014/main" id="{EEA49BC7-5015-4746-0183-45153AB21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18" y="61612"/>
            <a:ext cx="11467082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E81E26-195F-9EFC-AF29-3E9F82B59179}"/>
              </a:ext>
            </a:extLst>
          </p:cNvPr>
          <p:cNvSpPr txBox="1"/>
          <p:nvPr/>
        </p:nvSpPr>
        <p:spPr>
          <a:xfrm>
            <a:off x="1366684" y="17339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Supply Chain Performance </a:t>
            </a:r>
          </a:p>
        </p:txBody>
      </p:sp>
      <p:pic>
        <p:nvPicPr>
          <p:cNvPr id="6156" name="Picture 12" descr="This may contain: colorful circles with different colors and shapes on the white background, eps file available for use in any type of design">
            <a:extLst>
              <a:ext uri="{FF2B5EF4-FFF2-40B4-BE49-F238E27FC236}">
                <a16:creationId xmlns:a16="http://schemas.microsoft.com/office/drawing/2014/main" id="{C6975071-46E9-1ACE-5721-5E0D0B579B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69"/>
          <a:stretch>
            <a:fillRect/>
          </a:stretch>
        </p:blipFill>
        <p:spPr bwMode="auto">
          <a:xfrm>
            <a:off x="344130" y="1179870"/>
            <a:ext cx="11847870" cy="567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3399E4-4003-43C4-3EE6-426190EA197D}"/>
              </a:ext>
            </a:extLst>
          </p:cNvPr>
          <p:cNvSpPr txBox="1"/>
          <p:nvPr/>
        </p:nvSpPr>
        <p:spPr>
          <a:xfrm>
            <a:off x="4901569" y="2865814"/>
            <a:ext cx="197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Inventory &amp; Stock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9BDCAD-1ABA-641D-188E-06482A0B7880}"/>
              </a:ext>
            </a:extLst>
          </p:cNvPr>
          <p:cNvSpPr txBox="1"/>
          <p:nvPr/>
        </p:nvSpPr>
        <p:spPr>
          <a:xfrm>
            <a:off x="6518787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93B4D-FB78-729C-3E71-52BE85DB276E}"/>
              </a:ext>
            </a:extLst>
          </p:cNvPr>
          <p:cNvSpPr txBox="1"/>
          <p:nvPr/>
        </p:nvSpPr>
        <p:spPr>
          <a:xfrm>
            <a:off x="4606412" y="3299764"/>
            <a:ext cx="5987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Quality &amp; Inspection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FEB62-B362-D24D-433C-7ACCF6FD86C2}"/>
              </a:ext>
            </a:extLst>
          </p:cNvPr>
          <p:cNvSpPr txBox="1"/>
          <p:nvPr/>
        </p:nvSpPr>
        <p:spPr>
          <a:xfrm>
            <a:off x="4414684" y="3744222"/>
            <a:ext cx="3136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 err="1">
                <a:solidFill>
                  <a:schemeClr val="bg1"/>
                </a:solidFill>
                <a:effectLst/>
                <a:latin typeface="Figtree"/>
              </a:rPr>
              <a:t>Fulfillment</a:t>
            </a:r>
            <a:r>
              <a:rPr lang="en-IN" b="1" i="0" dirty="0">
                <a:solidFill>
                  <a:schemeClr val="bg1"/>
                </a:solidFill>
                <a:effectLst/>
                <a:latin typeface="Figtree"/>
              </a:rPr>
              <a:t> &amp; Lead Time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704D26-5B56-FE4D-4569-0D0D4CE96E4B}"/>
              </a:ext>
            </a:extLst>
          </p:cNvPr>
          <p:cNvSpPr txBox="1"/>
          <p:nvPr/>
        </p:nvSpPr>
        <p:spPr>
          <a:xfrm>
            <a:off x="4474906" y="4188681"/>
            <a:ext cx="3487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bg1"/>
                </a:solidFill>
                <a:effectLst/>
                <a:latin typeface="Figtree"/>
              </a:rPr>
              <a:t>Supplier Performance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C5E7A7-1571-A9FE-B92E-05FC11B87F26}"/>
              </a:ext>
            </a:extLst>
          </p:cNvPr>
          <p:cNvSpPr txBox="1"/>
          <p:nvPr/>
        </p:nvSpPr>
        <p:spPr>
          <a:xfrm>
            <a:off x="4901569" y="4633140"/>
            <a:ext cx="2388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bg1"/>
                </a:solidFill>
                <a:effectLst/>
                <a:latin typeface="Figtree"/>
              </a:rPr>
              <a:t>Logistics &amp; Routes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BCD92D-E99D-38A2-B908-C2C742B533DE}"/>
              </a:ext>
            </a:extLst>
          </p:cNvPr>
          <p:cNvSpPr txBox="1"/>
          <p:nvPr/>
        </p:nvSpPr>
        <p:spPr>
          <a:xfrm>
            <a:off x="8377084" y="1179870"/>
            <a:ext cx="347078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b="0" i="0" dirty="0">
                <a:effectLst/>
                <a:latin typeface="Figtree"/>
              </a:rPr>
              <a:t>14 SKUs are at </a:t>
            </a:r>
            <a:r>
              <a:rPr lang="en-US" sz="1400" b="1" i="0" dirty="0">
                <a:solidFill>
                  <a:srgbClr val="FF0000"/>
                </a:solidFill>
                <a:effectLst/>
                <a:latin typeface="Figtree"/>
              </a:rPr>
              <a:t>stockout risk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Figtree"/>
              </a:rPr>
              <a:t> </a:t>
            </a:r>
            <a:r>
              <a:rPr lang="en-US" sz="1400" b="0" i="0" dirty="0">
                <a:effectLst/>
                <a:latin typeface="Figtree"/>
              </a:rPr>
              <a:t>- critically low stock threatening immediate sales loss</a:t>
            </a:r>
            <a:endParaRPr lang="en-US" sz="1400" dirty="0">
              <a:latin typeface="Figtree"/>
            </a:endParaRPr>
          </a:p>
          <a:p>
            <a:pPr>
              <a:spcAft>
                <a:spcPts val="1200"/>
              </a:spcAft>
            </a:pPr>
            <a:r>
              <a:rPr lang="en-IN" sz="1400" dirty="0"/>
              <a:t>significant overproduction</a:t>
            </a:r>
            <a:endParaRPr lang="en-US" sz="1400" b="0" i="0" dirty="0">
              <a:effectLst/>
              <a:latin typeface="Figtre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4AF53-BD13-1257-75B9-5527205C10AF}"/>
              </a:ext>
            </a:extLst>
          </p:cNvPr>
          <p:cNvSpPr txBox="1"/>
          <p:nvPr/>
        </p:nvSpPr>
        <p:spPr>
          <a:xfrm>
            <a:off x="8453377" y="2399445"/>
            <a:ext cx="3318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400" b="1" i="0" dirty="0">
                <a:effectLst/>
                <a:latin typeface="Figtree"/>
              </a:rPr>
              <a:t>32 SKUs</a:t>
            </a:r>
            <a:r>
              <a:rPr lang="en-US" sz="1400" b="0" i="0" dirty="0">
                <a:effectLst/>
                <a:latin typeface="Figtree"/>
              </a:rPr>
              <a:t> carry a defect rate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Figtree"/>
              </a:rPr>
              <a:t>above 3% </a:t>
            </a:r>
            <a:r>
              <a:rPr lang="en-US" sz="1400" b="0" i="0" dirty="0">
                <a:effectLst/>
                <a:latin typeface="Figtree"/>
              </a:rPr>
              <a:t>— directly impacting product reliability and returns</a:t>
            </a:r>
          </a:p>
          <a:p>
            <a:pPr>
              <a:buNone/>
            </a:pPr>
            <a:br>
              <a:rPr lang="en-US" sz="1400" dirty="0"/>
            </a:br>
            <a:endParaRPr lang="en-IN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283D26-40CF-B752-1C6F-AEEF1970855C}"/>
              </a:ext>
            </a:extLst>
          </p:cNvPr>
          <p:cNvSpPr txBox="1"/>
          <p:nvPr/>
        </p:nvSpPr>
        <p:spPr>
          <a:xfrm>
            <a:off x="8480135" y="3559556"/>
            <a:ext cx="336773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400" b="0" i="0" dirty="0">
                <a:effectLst/>
                <a:latin typeface="Figtree"/>
              </a:rPr>
              <a:t>Average shipping time is </a:t>
            </a:r>
            <a:r>
              <a:rPr lang="en-US" sz="1400" b="1" i="0" dirty="0">
                <a:solidFill>
                  <a:srgbClr val="FF0000"/>
                </a:solidFill>
                <a:effectLst/>
                <a:latin typeface="Figtree"/>
              </a:rPr>
              <a:t>5.8 days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Figtree"/>
              </a:rPr>
              <a:t> </a:t>
            </a:r>
            <a:r>
              <a:rPr lang="en-US" sz="1400" b="0" i="0" dirty="0">
                <a:effectLst/>
                <a:latin typeface="Figtree"/>
              </a:rPr>
              <a:t>across Road, Air, Rail and Sea transport modes</a:t>
            </a:r>
          </a:p>
          <a:p>
            <a:pPr>
              <a:buNone/>
            </a:pPr>
            <a:br>
              <a:rPr lang="en-US" sz="1400" dirty="0"/>
            </a:br>
            <a:endParaRPr lang="en-IN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E33654-C3D4-CF52-DFFF-6A691DE04A91}"/>
              </a:ext>
            </a:extLst>
          </p:cNvPr>
          <p:cNvSpPr txBox="1"/>
          <p:nvPr/>
        </p:nvSpPr>
        <p:spPr>
          <a:xfrm>
            <a:off x="8453377" y="4625242"/>
            <a:ext cx="329144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5 suppliers</a:t>
            </a:r>
            <a:r>
              <a:rPr lang="en-US" sz="1400" dirty="0">
                <a:solidFill>
                  <a:srgbClr val="FF0000"/>
                </a:solidFill>
              </a:rPr>
              <a:t> </a:t>
            </a:r>
            <a:r>
              <a:rPr lang="en-US" sz="1400" dirty="0"/>
              <a:t>assessed across defect rates, lead times and order volumes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Supplier quality gaps </a:t>
            </a:r>
            <a:r>
              <a:rPr lang="en-US" sz="1400" dirty="0"/>
              <a:t>are the </a:t>
            </a:r>
            <a:r>
              <a:rPr lang="en-US" sz="1400" b="1" dirty="0"/>
              <a:t>primary driver</a:t>
            </a:r>
            <a:r>
              <a:rPr lang="en-US" sz="1400" dirty="0"/>
              <a:t> of inspection failures</a:t>
            </a:r>
          </a:p>
          <a:p>
            <a:pPr algn="l">
              <a:spcAft>
                <a:spcPts val="1200"/>
              </a:spcAft>
            </a:pPr>
            <a:endParaRPr lang="en-US" sz="1400" b="0" i="0" dirty="0">
              <a:effectLst/>
              <a:latin typeface="Figtree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03C55D-B81F-E66B-0F9A-51760B27726B}"/>
              </a:ext>
            </a:extLst>
          </p:cNvPr>
          <p:cNvSpPr txBox="1"/>
          <p:nvPr/>
        </p:nvSpPr>
        <p:spPr>
          <a:xfrm>
            <a:off x="8377084" y="5804599"/>
            <a:ext cx="329144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400" b="1" i="0" dirty="0">
                <a:effectLst/>
                <a:latin typeface="Figtree"/>
              </a:rPr>
              <a:t>37 SKUs on Route B</a:t>
            </a:r>
            <a:r>
              <a:rPr lang="en-US" sz="1400" b="0" i="0" dirty="0">
                <a:effectLst/>
                <a:latin typeface="Figtree"/>
              </a:rPr>
              <a:t> are overpaying by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Figtree"/>
              </a:rPr>
              <a:t>23%</a:t>
            </a:r>
            <a:r>
              <a:rPr lang="en-US" sz="1400" b="0" i="0" dirty="0">
                <a:effectLst/>
                <a:latin typeface="Figtree"/>
              </a:rPr>
              <a:t> </a:t>
            </a:r>
            <a:endParaRPr lang="en-US" sz="1400" dirty="0">
              <a:latin typeface="Figtree"/>
            </a:endParaRPr>
          </a:p>
          <a:p>
            <a:pPr algn="l">
              <a:spcAft>
                <a:spcPts val="1200"/>
              </a:spcAft>
            </a:pPr>
            <a:r>
              <a:rPr lang="en-US" sz="1400" b="0" i="0" dirty="0">
                <a:effectLst/>
                <a:latin typeface="Figtree"/>
              </a:rPr>
              <a:t>Switching routes saves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Figtree"/>
              </a:rPr>
              <a:t> </a:t>
            </a:r>
            <a:r>
              <a:rPr lang="en-US" sz="1400" b="1" i="0" dirty="0">
                <a:solidFill>
                  <a:srgbClr val="FF0000"/>
                </a:solidFill>
                <a:effectLst/>
                <a:latin typeface="Figtree"/>
              </a:rPr>
              <a:t>$4,107 per cycle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Figtree"/>
              </a:rPr>
              <a:t> </a:t>
            </a:r>
            <a:r>
              <a:rPr lang="en-US" sz="1400" b="0" i="0" dirty="0">
                <a:effectLst/>
                <a:latin typeface="Figtree"/>
              </a:rPr>
              <a:t>— zero operational disruption required</a:t>
            </a:r>
          </a:p>
        </p:txBody>
      </p:sp>
      <p:pic>
        <p:nvPicPr>
          <p:cNvPr id="6158" name="Picture 14" descr="Supply chain management ">
            <a:extLst>
              <a:ext uri="{FF2B5EF4-FFF2-40B4-BE49-F238E27FC236}">
                <a16:creationId xmlns:a16="http://schemas.microsoft.com/office/drawing/2014/main" id="{266B3463-0327-9557-41EA-334C05C5F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825" y="3299764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Supply chain ">
            <a:extLst>
              <a:ext uri="{FF2B5EF4-FFF2-40B4-BE49-F238E27FC236}">
                <a16:creationId xmlns:a16="http://schemas.microsoft.com/office/drawing/2014/main" id="{92869FDF-F8BA-8B67-6D12-7449DD7F6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76" y="24580"/>
            <a:ext cx="1061884" cy="106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1 ">
            <a:extLst>
              <a:ext uri="{FF2B5EF4-FFF2-40B4-BE49-F238E27FC236}">
                <a16:creationId xmlns:a16="http://schemas.microsoft.com/office/drawing/2014/main" id="{35D55835-810A-A9F0-F829-04262FD7F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600" y="1425677"/>
            <a:ext cx="567994" cy="46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 descr="Two ">
            <a:extLst>
              <a:ext uri="{FF2B5EF4-FFF2-40B4-BE49-F238E27FC236}">
                <a16:creationId xmlns:a16="http://schemas.microsoft.com/office/drawing/2014/main" id="{09E8D409-13A7-C2BE-5F73-BBD640F4C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665" y="2526890"/>
            <a:ext cx="710383" cy="5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6" name="Picture 22" descr="Three">
            <a:extLst>
              <a:ext uri="{FF2B5EF4-FFF2-40B4-BE49-F238E27FC236}">
                <a16:creationId xmlns:a16="http://schemas.microsoft.com/office/drawing/2014/main" id="{B698B4A6-203A-F21A-A316-B573FED45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535" y="3652231"/>
            <a:ext cx="726549" cy="55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8" name="Picture 24" descr="Number 4 ">
            <a:extLst>
              <a:ext uri="{FF2B5EF4-FFF2-40B4-BE49-F238E27FC236}">
                <a16:creationId xmlns:a16="http://schemas.microsoft.com/office/drawing/2014/main" id="{0331D120-80EF-C24B-8E30-37757F407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391" y="4799751"/>
            <a:ext cx="648929" cy="55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72" name="Picture 28" descr="Number 5">
            <a:extLst>
              <a:ext uri="{FF2B5EF4-FFF2-40B4-BE49-F238E27FC236}">
                <a16:creationId xmlns:a16="http://schemas.microsoft.com/office/drawing/2014/main" id="{E91BFA45-4211-D883-74DC-2184F57FB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665" y="5935121"/>
            <a:ext cx="726550" cy="56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555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 trans="22000" intensity="0"/>
                    </a14:imgEffect>
                    <a14:imgEffect>
                      <a14:sharpenSoften amount="6000"/>
                    </a14:imgEffect>
                    <a14:imgEffect>
                      <a14:brightnessContrast bright="100000" contrast="3000"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 descr="This may contain: an abstract blue background with gears and other technology related items in the center, on top of it">
            <a:extLst>
              <a:ext uri="{FF2B5EF4-FFF2-40B4-BE49-F238E27FC236}">
                <a16:creationId xmlns:a16="http://schemas.microsoft.com/office/drawing/2014/main" id="{B9FAC964-02B2-A5C8-6C94-168D47ED8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18" y="61612"/>
            <a:ext cx="11467082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1DD939-4AB5-AD16-6D29-FD54C49C2EDE}"/>
              </a:ext>
            </a:extLst>
          </p:cNvPr>
          <p:cNvSpPr txBox="1"/>
          <p:nvPr/>
        </p:nvSpPr>
        <p:spPr>
          <a:xfrm>
            <a:off x="511278" y="17339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Finance Performance</a:t>
            </a:r>
            <a:endParaRPr lang="en-US" sz="40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7178" name="Picture 10" descr="Budget ">
            <a:extLst>
              <a:ext uri="{FF2B5EF4-FFF2-40B4-BE49-F238E27FC236}">
                <a16:creationId xmlns:a16="http://schemas.microsoft.com/office/drawing/2014/main" id="{B408E235-F4F2-467A-AB63-71002C14E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7" y="39303"/>
            <a:ext cx="976063" cy="97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This may contain: the colorful speech bubbles are connected to each other with one another on top of it">
            <a:extLst>
              <a:ext uri="{FF2B5EF4-FFF2-40B4-BE49-F238E27FC236}">
                <a16:creationId xmlns:a16="http://schemas.microsoft.com/office/drawing/2014/main" id="{72639E89-D0A5-F3E6-F7A7-46B1917AE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61" r="2841"/>
          <a:stretch>
            <a:fillRect/>
          </a:stretch>
        </p:blipFill>
        <p:spPr bwMode="auto">
          <a:xfrm>
            <a:off x="724917" y="1037675"/>
            <a:ext cx="10778825" cy="582032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39E034-4002-D7CB-038F-7DFEC83A7A97}"/>
              </a:ext>
            </a:extLst>
          </p:cNvPr>
          <p:cNvSpPr txBox="1"/>
          <p:nvPr/>
        </p:nvSpPr>
        <p:spPr>
          <a:xfrm>
            <a:off x="2614047" y="2272551"/>
            <a:ext cx="32558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Total revenue of </a:t>
            </a:r>
            <a:r>
              <a:rPr lang="en-US" sz="1600" b="1" i="0" dirty="0">
                <a:solidFill>
                  <a:schemeClr val="bg1"/>
                </a:solidFill>
                <a:effectLst/>
                <a:latin typeface="Figtree"/>
              </a:rPr>
              <a:t>$577K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 at a </a:t>
            </a:r>
            <a:r>
              <a:rPr lang="en-US" sz="1600" b="1" i="0" dirty="0">
                <a:effectLst/>
                <a:latin typeface="Figtree"/>
              </a:rPr>
              <a:t>90% gross margin</a:t>
            </a:r>
            <a:r>
              <a:rPr lang="en-US" sz="1600" b="0" i="0" dirty="0">
                <a:effectLst/>
                <a:latin typeface="Figtree"/>
              </a:rPr>
              <a:t> 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— 18 points above the 72% industry benchmark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3A259-2393-1C80-1AC0-C1F358955086}"/>
              </a:ext>
            </a:extLst>
          </p:cNvPr>
          <p:cNvSpPr txBox="1"/>
          <p:nvPr/>
        </p:nvSpPr>
        <p:spPr>
          <a:xfrm>
            <a:off x="2632377" y="3429000"/>
            <a:ext cx="34636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Cosmetics has the best margin </a:t>
            </a:r>
            <a:r>
              <a:rPr lang="en-US" sz="1600" b="0" i="0" dirty="0">
                <a:effectLst/>
                <a:latin typeface="Segoe UI" panose="020B0502040204020203" pitchFamily="34" charset="0"/>
              </a:rPr>
              <a:t>(87.3%)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· Skincare drives highest total revenue </a:t>
            </a:r>
            <a:r>
              <a:rPr lang="en-US" sz="1600" b="0" i="0" dirty="0">
                <a:effectLst/>
                <a:latin typeface="Segoe UI" panose="020B0502040204020203" pitchFamily="34" charset="0"/>
              </a:rPr>
              <a:t>(42% share)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0C14A-5282-9354-5A42-7161EB022032}"/>
              </a:ext>
            </a:extLst>
          </p:cNvPr>
          <p:cNvSpPr txBox="1"/>
          <p:nvPr/>
        </p:nvSpPr>
        <p:spPr>
          <a:xfrm>
            <a:off x="6657773" y="1965623"/>
            <a:ext cx="29201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i="0" dirty="0">
                <a:solidFill>
                  <a:schemeClr val="bg2">
                    <a:lumMod val="10000"/>
                  </a:schemeClr>
                </a:solidFill>
                <a:effectLst/>
                <a:latin typeface="Figtree"/>
              </a:rPr>
              <a:t>$273K (47% of revenue)</a:t>
            </a: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  <a:latin typeface="Figtree"/>
              </a:rPr>
              <a:t>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is at risk from failed inspections and stockouts — immediate priority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9A9FE-261C-4C7F-2178-1BB939A24454}"/>
              </a:ext>
            </a:extLst>
          </p:cNvPr>
          <p:cNvSpPr txBox="1"/>
          <p:nvPr/>
        </p:nvSpPr>
        <p:spPr>
          <a:xfrm>
            <a:off x="2637714" y="4565275"/>
            <a:ext cx="35592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Logistics accounts for </a:t>
            </a:r>
            <a:r>
              <a:rPr lang="en-US" sz="1600" b="1" i="0" dirty="0">
                <a:effectLst/>
                <a:latin typeface="Figtree"/>
              </a:rPr>
              <a:t>91% of total costs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 — the dominant and most controllable cost driver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3BDE15-AF59-9682-D951-4B3E1099D5FA}"/>
              </a:ext>
            </a:extLst>
          </p:cNvPr>
          <p:cNvSpPr txBox="1"/>
          <p:nvPr/>
        </p:nvSpPr>
        <p:spPr>
          <a:xfrm>
            <a:off x="6565280" y="4259997"/>
            <a:ext cx="33527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Figtree"/>
              </a:rPr>
              <a:t>Top 10 SKUs</a:t>
            </a:r>
            <a:r>
              <a:rPr lang="en-US" sz="16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Figtree"/>
              </a:rPr>
              <a:t> 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drive disproportionate revenue — </a:t>
            </a:r>
            <a:r>
              <a:rPr lang="en-US" sz="1600" b="0" i="0" dirty="0">
                <a:solidFill>
                  <a:srgbClr val="FFC000"/>
                </a:solidFill>
                <a:effectLst/>
                <a:latin typeface="Figtree"/>
              </a:rPr>
              <a:t>bottom 10 SKUs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need urgent performance review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1D5C6B-3B00-DB18-C20A-A975EE083F19}"/>
              </a:ext>
            </a:extLst>
          </p:cNvPr>
          <p:cNvSpPr txBox="1"/>
          <p:nvPr/>
        </p:nvSpPr>
        <p:spPr>
          <a:xfrm>
            <a:off x="6688603" y="3105834"/>
            <a:ext cx="3048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Route </a:t>
            </a:r>
            <a:r>
              <a:rPr lang="en-US" sz="1600" b="0" i="0" dirty="0" err="1">
                <a:solidFill>
                  <a:schemeClr val="bg1"/>
                </a:solidFill>
                <a:effectLst/>
                <a:latin typeface="Figtree"/>
              </a:rPr>
              <a:t>optimisation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 and quality fixes can unlock 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Figtree"/>
              </a:rPr>
              <a:t>$90K–$125K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Figtree"/>
              </a:rPr>
              <a:t> 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Figtree"/>
              </a:rPr>
              <a:t>in recoverable revenue</a:t>
            </a:r>
          </a:p>
          <a:p>
            <a:pPr>
              <a:buNone/>
            </a:pPr>
            <a:br>
              <a:rPr lang="en-US" sz="1600" dirty="0">
                <a:solidFill>
                  <a:schemeClr val="bg1"/>
                </a:solidFill>
              </a:rPr>
            </a:b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7184" name="Picture 16" descr="Like ">
            <a:extLst>
              <a:ext uri="{FF2B5EF4-FFF2-40B4-BE49-F238E27FC236}">
                <a16:creationId xmlns:a16="http://schemas.microsoft.com/office/drawing/2014/main" id="{B26CD359-FF3E-809B-196F-9FB3BA395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155" y="2420035"/>
            <a:ext cx="530942" cy="53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6" descr="Like ">
            <a:extLst>
              <a:ext uri="{FF2B5EF4-FFF2-40B4-BE49-F238E27FC236}">
                <a16:creationId xmlns:a16="http://schemas.microsoft.com/office/drawing/2014/main" id="{07324F86-D2EC-113F-0BAF-1F8CF4568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155" y="3519046"/>
            <a:ext cx="530942" cy="53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6" descr="Like ">
            <a:extLst>
              <a:ext uri="{FF2B5EF4-FFF2-40B4-BE49-F238E27FC236}">
                <a16:creationId xmlns:a16="http://schemas.microsoft.com/office/drawing/2014/main" id="{AE00F704-5987-F063-C5F1-CD956AFF3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156" y="4735387"/>
            <a:ext cx="530941" cy="53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 descr="Implementation ">
            <a:extLst>
              <a:ext uri="{FF2B5EF4-FFF2-40B4-BE49-F238E27FC236}">
                <a16:creationId xmlns:a16="http://schemas.microsoft.com/office/drawing/2014/main" id="{4B01C20D-223C-4256-9639-F3ED895C4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079" y="2123415"/>
            <a:ext cx="874894" cy="553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8" descr="Implementation ">
            <a:extLst>
              <a:ext uri="{FF2B5EF4-FFF2-40B4-BE49-F238E27FC236}">
                <a16:creationId xmlns:a16="http://schemas.microsoft.com/office/drawing/2014/main" id="{AC6AB07D-C489-FB45-196E-45573565D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758" y="3230960"/>
            <a:ext cx="854215" cy="553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8" descr="Implementation ">
            <a:extLst>
              <a:ext uri="{FF2B5EF4-FFF2-40B4-BE49-F238E27FC236}">
                <a16:creationId xmlns:a16="http://schemas.microsoft.com/office/drawing/2014/main" id="{9C989662-6916-D611-6EE4-1E38D4036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758" y="4458608"/>
            <a:ext cx="854215" cy="553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9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 descr="This may contain: an abstract blue background with gears and other technology related items in the center, on top of it">
            <a:extLst>
              <a:ext uri="{FF2B5EF4-FFF2-40B4-BE49-F238E27FC236}">
                <a16:creationId xmlns:a16="http://schemas.microsoft.com/office/drawing/2014/main" id="{F9D5D59C-912E-FF8E-2808-B6EE6FBD2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18" y="61612"/>
            <a:ext cx="11467082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This may contain: a person standing in front of colorful speech bubbles">
            <a:extLst>
              <a:ext uri="{FF2B5EF4-FFF2-40B4-BE49-F238E27FC236}">
                <a16:creationId xmlns:a16="http://schemas.microsoft.com/office/drawing/2014/main" id="{CD0100C5-60A9-F6DA-C9E2-85A0D5BD98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10" descr="This may contain: a person standing in front of colorful speech bubbles">
            <a:extLst>
              <a:ext uri="{FF2B5EF4-FFF2-40B4-BE49-F238E27FC236}">
                <a16:creationId xmlns:a16="http://schemas.microsoft.com/office/drawing/2014/main" id="{063F7478-2F0C-FAE4-9D2B-AF7B1EAA85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2" descr="This may contain: people sitting at a table with speech bubbles above them">
            <a:extLst>
              <a:ext uri="{FF2B5EF4-FFF2-40B4-BE49-F238E27FC236}">
                <a16:creationId xmlns:a16="http://schemas.microsoft.com/office/drawing/2014/main" id="{74D462A5-930A-A46A-7AFC-A421702C7F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652340"/>
            <a:ext cx="304800" cy="233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206" name="Picture 14">
            <a:extLst>
              <a:ext uri="{FF2B5EF4-FFF2-40B4-BE49-F238E27FC236}">
                <a16:creationId xmlns:a16="http://schemas.microsoft.com/office/drawing/2014/main" id="{1C9AD007-8375-A681-AE1D-6F2ECABB0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13"/>
          <a:stretch>
            <a:fillRect/>
          </a:stretch>
        </p:blipFill>
        <p:spPr bwMode="auto">
          <a:xfrm>
            <a:off x="2792896" y="1682611"/>
            <a:ext cx="6539947" cy="5175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39F674-5292-ED78-579A-95ACA74A5A97}"/>
              </a:ext>
            </a:extLst>
          </p:cNvPr>
          <p:cNvSpPr txBox="1"/>
          <p:nvPr/>
        </p:nvSpPr>
        <p:spPr>
          <a:xfrm>
            <a:off x="-466725" y="17339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Root Cause</a:t>
            </a:r>
          </a:p>
        </p:txBody>
      </p:sp>
      <p:pic>
        <p:nvPicPr>
          <p:cNvPr id="8208" name="Picture 16" descr="Thinking ">
            <a:extLst>
              <a:ext uri="{FF2B5EF4-FFF2-40B4-BE49-F238E27FC236}">
                <a16:creationId xmlns:a16="http://schemas.microsoft.com/office/drawing/2014/main" id="{B397EA92-E34A-5F00-1D3A-3D136DB83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89" y="0"/>
            <a:ext cx="993058" cy="123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BD08D5-923C-9C9A-BC98-ADAA28FA6032}"/>
              </a:ext>
            </a:extLst>
          </p:cNvPr>
          <p:cNvSpPr txBox="1"/>
          <p:nvPr/>
        </p:nvSpPr>
        <p:spPr>
          <a:xfrm>
            <a:off x="3088580" y="5544734"/>
            <a:ext cx="16571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0" dirty="0">
                <a:solidFill>
                  <a:schemeClr val="bg1"/>
                </a:solidFill>
                <a:effectLst/>
                <a:latin typeface="Figtree"/>
              </a:rPr>
              <a:t>Quality Failures 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(36 Failed | 41 Pending)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467E4-48C7-1C81-AE6F-DE61069F6307}"/>
              </a:ext>
            </a:extLst>
          </p:cNvPr>
          <p:cNvSpPr txBox="1"/>
          <p:nvPr/>
        </p:nvSpPr>
        <p:spPr>
          <a:xfrm>
            <a:off x="3086618" y="4114810"/>
            <a:ext cx="15445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bg1"/>
                </a:solidFill>
                <a:effectLst/>
                <a:latin typeface="Figtree"/>
              </a:rPr>
              <a:t>High Defect Rate (32 SKUs above 3%)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5F776C-1048-E805-C824-00CBABEE711B}"/>
              </a:ext>
            </a:extLst>
          </p:cNvPr>
          <p:cNvSpPr txBox="1"/>
          <p:nvPr/>
        </p:nvSpPr>
        <p:spPr>
          <a:xfrm>
            <a:off x="4054441" y="2723483"/>
            <a:ext cx="1397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bg1"/>
                </a:solidFill>
                <a:effectLst/>
                <a:latin typeface="Figtree"/>
              </a:rPr>
              <a:t>Revenue at Risk ($273K)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0522B9-3186-F8FC-5949-7FA2528005BA}"/>
              </a:ext>
            </a:extLst>
          </p:cNvPr>
          <p:cNvSpPr txBox="1"/>
          <p:nvPr/>
        </p:nvSpPr>
        <p:spPr>
          <a:xfrm>
            <a:off x="5997440" y="2677291"/>
            <a:ext cx="21253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Figtree"/>
              </a:rPr>
              <a:t>Overproduction </a:t>
            </a:r>
          </a:p>
          <a:p>
            <a:r>
              <a:rPr lang="en-US" b="1" i="0" dirty="0">
                <a:solidFill>
                  <a:schemeClr val="bg1"/>
                </a:solidFill>
                <a:effectLst/>
                <a:latin typeface="Figtree"/>
              </a:rPr>
              <a:t>(56K units vs 4.9K orders)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D86814-5D6F-AD83-8993-0C43282F4094}"/>
              </a:ext>
            </a:extLst>
          </p:cNvPr>
          <p:cNvSpPr txBox="1"/>
          <p:nvPr/>
        </p:nvSpPr>
        <p:spPr>
          <a:xfrm>
            <a:off x="7346680" y="4243657"/>
            <a:ext cx="1782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bg1"/>
                </a:solidFill>
                <a:effectLst/>
                <a:latin typeface="Figtree"/>
              </a:rPr>
              <a:t>High Lead Time 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967AC9-117B-F9A8-F1DD-D393C940FA51}"/>
              </a:ext>
            </a:extLst>
          </p:cNvPr>
          <p:cNvSpPr txBox="1"/>
          <p:nvPr/>
        </p:nvSpPr>
        <p:spPr>
          <a:xfrm>
            <a:off x="7637596" y="5413131"/>
            <a:ext cx="1585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bg1"/>
                </a:solidFill>
                <a:effectLst/>
                <a:latin typeface="Figtree"/>
              </a:rPr>
              <a:t>Suboptimal Routing (Route B overused)</a:t>
            </a:r>
            <a:endParaRPr lang="en-IN" sz="1600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E33B30-6D6E-5156-2B4F-7F8B10099AF8}"/>
              </a:ext>
            </a:extLst>
          </p:cNvPr>
          <p:cNvCxnSpPr>
            <a:cxnSpLocks/>
          </p:cNvCxnSpPr>
          <p:nvPr/>
        </p:nvCxnSpPr>
        <p:spPr>
          <a:xfrm>
            <a:off x="8969444" y="6280779"/>
            <a:ext cx="304986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93A881-08B3-29C0-4B36-4DA5FA9FBD09}"/>
              </a:ext>
            </a:extLst>
          </p:cNvPr>
          <p:cNvCxnSpPr>
            <a:cxnSpLocks/>
          </p:cNvCxnSpPr>
          <p:nvPr/>
        </p:nvCxnSpPr>
        <p:spPr>
          <a:xfrm>
            <a:off x="8070574" y="2708416"/>
            <a:ext cx="2975113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F11EDC-4A45-3A5A-5F1E-A78BDA85AF4D}"/>
              </a:ext>
            </a:extLst>
          </p:cNvPr>
          <p:cNvCxnSpPr>
            <a:cxnSpLocks/>
          </p:cNvCxnSpPr>
          <p:nvPr/>
        </p:nvCxnSpPr>
        <p:spPr>
          <a:xfrm>
            <a:off x="9129097" y="4711148"/>
            <a:ext cx="2834514" cy="15973"/>
          </a:xfrm>
          <a:prstGeom prst="straightConnector1">
            <a:avLst/>
          </a:prstGeom>
          <a:ln w="28575">
            <a:solidFill>
              <a:srgbClr val="F709A8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4483C05-2EB9-3193-189C-D58A85F72777}"/>
              </a:ext>
            </a:extLst>
          </p:cNvPr>
          <p:cNvCxnSpPr>
            <a:cxnSpLocks/>
          </p:cNvCxnSpPr>
          <p:nvPr/>
        </p:nvCxnSpPr>
        <p:spPr>
          <a:xfrm flipH="1">
            <a:off x="149087" y="6330679"/>
            <a:ext cx="2830995" cy="5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2CE9253-52D5-D5C5-0E68-280B75BE5466}"/>
              </a:ext>
            </a:extLst>
          </p:cNvPr>
          <p:cNvCxnSpPr>
            <a:cxnSpLocks/>
          </p:cNvCxnSpPr>
          <p:nvPr/>
        </p:nvCxnSpPr>
        <p:spPr>
          <a:xfrm flipH="1">
            <a:off x="197543" y="4482780"/>
            <a:ext cx="2595353" cy="0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DB1610-F6B4-EC2B-0028-60FD788F48E0}"/>
              </a:ext>
            </a:extLst>
          </p:cNvPr>
          <p:cNvCxnSpPr>
            <a:cxnSpLocks/>
          </p:cNvCxnSpPr>
          <p:nvPr/>
        </p:nvCxnSpPr>
        <p:spPr>
          <a:xfrm flipH="1" flipV="1">
            <a:off x="347870" y="2789694"/>
            <a:ext cx="3300616" cy="21427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AA5A558-9A45-6736-2B37-37AE7F223D39}"/>
              </a:ext>
            </a:extLst>
          </p:cNvPr>
          <p:cNvSpPr txBox="1"/>
          <p:nvPr/>
        </p:nvSpPr>
        <p:spPr>
          <a:xfrm>
            <a:off x="104461" y="4941193"/>
            <a:ext cx="29794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1" i="0" dirty="0">
                <a:effectLst/>
                <a:latin typeface="Figtree"/>
              </a:rPr>
              <a:t>No standardized inspection threshold across suppliers </a:t>
            </a:r>
            <a:r>
              <a:rPr lang="en-US" sz="1600" b="0" i="0" dirty="0">
                <a:effectLst/>
                <a:latin typeface="Figtree"/>
              </a:rPr>
              <a:t>— each supplier operates with different quality benchmarks, driving inconsistent defect rates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249FDC-8501-1D1C-D6AE-3C1C53DDE8B5}"/>
              </a:ext>
            </a:extLst>
          </p:cNvPr>
          <p:cNvSpPr txBox="1"/>
          <p:nvPr/>
        </p:nvSpPr>
        <p:spPr>
          <a:xfrm>
            <a:off x="197543" y="3009459"/>
            <a:ext cx="28202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1" i="0" dirty="0">
                <a:effectLst/>
                <a:latin typeface="Figtree"/>
              </a:rPr>
              <a:t>Defect concentration linked to specific suppliers </a:t>
            </a:r>
            <a:r>
              <a:rPr lang="en-US" sz="1600" b="0" i="0" dirty="0">
                <a:effectLst/>
                <a:latin typeface="Figtree"/>
              </a:rPr>
              <a:t>— quality gaps at source are not being caught before products enter the supply chain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9E5813-1C65-8AA0-CA61-AA49C4FD3008}"/>
              </a:ext>
            </a:extLst>
          </p:cNvPr>
          <p:cNvSpPr txBox="1"/>
          <p:nvPr/>
        </p:nvSpPr>
        <p:spPr>
          <a:xfrm>
            <a:off x="499441" y="1647918"/>
            <a:ext cx="33975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1" i="0" dirty="0">
                <a:effectLst/>
                <a:latin typeface="Figtree"/>
              </a:rPr>
              <a:t>Failed inspections and low stock levels are occurring simultaneously </a:t>
            </a:r>
            <a:r>
              <a:rPr lang="en-US" sz="1600" b="0" i="0" dirty="0">
                <a:effectLst/>
                <a:latin typeface="Figtree"/>
              </a:rPr>
              <a:t>— no early warning system exists to flag at-risk SKUs before revenue impact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EE8FCC-71BB-EDEF-9121-30C49FDE9935}"/>
              </a:ext>
            </a:extLst>
          </p:cNvPr>
          <p:cNvSpPr txBox="1"/>
          <p:nvPr/>
        </p:nvSpPr>
        <p:spPr>
          <a:xfrm>
            <a:off x="7925630" y="1593865"/>
            <a:ext cx="3490292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1" i="0" dirty="0">
                <a:effectLst/>
                <a:latin typeface="Figtree"/>
              </a:rPr>
              <a:t>Production volumes are not aligned to demand signals </a:t>
            </a:r>
            <a:r>
              <a:rPr lang="en-US" sz="1600" b="0" i="0" dirty="0">
                <a:effectLst/>
                <a:latin typeface="Figtree"/>
              </a:rPr>
              <a:t>— manufacturing runs on fixed schedules rather than order-driven planning</a:t>
            </a:r>
          </a:p>
          <a:p>
            <a:pPr>
              <a:buNone/>
            </a:pPr>
            <a:br>
              <a:rPr lang="en-US" sz="1600" dirty="0"/>
            </a:br>
            <a:endParaRPr lang="en-IN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6C5805-EFF6-451B-F420-4A21124CA1DB}"/>
              </a:ext>
            </a:extLst>
          </p:cNvPr>
          <p:cNvSpPr txBox="1"/>
          <p:nvPr/>
        </p:nvSpPr>
        <p:spPr>
          <a:xfrm>
            <a:off x="9188732" y="3120810"/>
            <a:ext cx="28305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1" i="0" dirty="0">
                <a:effectLst/>
                <a:latin typeface="Figtree"/>
              </a:rPr>
              <a:t>Manufacturing consumes 86% of total lead time </a:t>
            </a:r>
            <a:r>
              <a:rPr lang="en-US" sz="1600" b="0" i="0" dirty="0">
                <a:effectLst/>
                <a:latin typeface="Figtree"/>
              </a:rPr>
              <a:t>— bottleneck is at production, not logistics, making delivery speed impossible to improve without fixing manufacturing first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627212-C482-84A2-9D82-FF64262FF79E}"/>
              </a:ext>
            </a:extLst>
          </p:cNvPr>
          <p:cNvSpPr txBox="1"/>
          <p:nvPr/>
        </p:nvSpPr>
        <p:spPr>
          <a:xfrm>
            <a:off x="9186764" y="5007240"/>
            <a:ext cx="28345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1" i="0" dirty="0">
                <a:effectLst/>
                <a:latin typeface="Figtree"/>
              </a:rPr>
              <a:t>Route selection is not cost-optimized </a:t>
            </a:r>
            <a:r>
              <a:rPr lang="en-US" sz="1600" b="0" i="0" dirty="0">
                <a:effectLst/>
                <a:latin typeface="Figtree"/>
              </a:rPr>
              <a:t>— 37 SKUs on Route B are paying 23% more with no performance advantage over Route A</a:t>
            </a:r>
          </a:p>
        </p:txBody>
      </p:sp>
    </p:spTree>
    <p:extLst>
      <p:ext uri="{BB962C8B-B14F-4D97-AF65-F5344CB8AC3E}">
        <p14:creationId xmlns:p14="http://schemas.microsoft.com/office/powerpoint/2010/main" val="241979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 descr="This may contain: an abstract blue background with gears and other technology related items in the center, on top of it">
            <a:extLst>
              <a:ext uri="{FF2B5EF4-FFF2-40B4-BE49-F238E27FC236}">
                <a16:creationId xmlns:a16="http://schemas.microsoft.com/office/drawing/2014/main" id="{44E71CC6-CF31-6979-F459-92D326432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18" y="61612"/>
            <a:ext cx="11467082" cy="93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This may contain: an arrow pointing in different directions with the word's name below it, and two arrows">
            <a:extLst>
              <a:ext uri="{FF2B5EF4-FFF2-40B4-BE49-F238E27FC236}">
                <a16:creationId xmlns:a16="http://schemas.microsoft.com/office/drawing/2014/main" id="{0658C606-1F98-00FA-ECC4-60D0846AE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5" t="12592" b="33333"/>
          <a:stretch>
            <a:fillRect/>
          </a:stretch>
        </p:blipFill>
        <p:spPr bwMode="auto">
          <a:xfrm>
            <a:off x="2663685" y="1123121"/>
            <a:ext cx="9153941" cy="412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589E318E-C2CC-3F1A-8E73-26CE54FF8576}"/>
              </a:ext>
            </a:extLst>
          </p:cNvPr>
          <p:cNvSpPr txBox="1"/>
          <p:nvPr/>
        </p:nvSpPr>
        <p:spPr>
          <a:xfrm>
            <a:off x="724918" y="173392"/>
            <a:ext cx="88483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Recommendations and Conclusion</a:t>
            </a:r>
          </a:p>
        </p:txBody>
      </p:sp>
      <p:sp>
        <p:nvSpPr>
          <p:cNvPr id="79" name="AutoShape 16" descr="To do list ">
            <a:extLst>
              <a:ext uri="{FF2B5EF4-FFF2-40B4-BE49-F238E27FC236}">
                <a16:creationId xmlns:a16="http://schemas.microsoft.com/office/drawing/2014/main" id="{FB9A6C0D-A151-CD5B-089B-4A2BBA30FF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234" name="Picture 18" descr="To do list ">
            <a:extLst>
              <a:ext uri="{FF2B5EF4-FFF2-40B4-BE49-F238E27FC236}">
                <a16:creationId xmlns:a16="http://schemas.microsoft.com/office/drawing/2014/main" id="{8D825356-E8F8-F910-7341-2355DF01F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92" y="-7713"/>
            <a:ext cx="1003852" cy="109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9736931-71DA-2C66-9A89-9CAB8EE904B2}"/>
              </a:ext>
            </a:extLst>
          </p:cNvPr>
          <p:cNvSpPr txBox="1"/>
          <p:nvPr/>
        </p:nvSpPr>
        <p:spPr>
          <a:xfrm>
            <a:off x="4222886" y="1343035"/>
            <a:ext cx="65908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igtree"/>
              </a:rPr>
              <a:t>Enforce </a:t>
            </a:r>
            <a:r>
              <a:rPr lang="en-US" sz="1600" b="1" i="0" dirty="0">
                <a:effectLst/>
                <a:latin typeface="Figtree"/>
              </a:rPr>
              <a:t>3% defect threshold</a:t>
            </a:r>
            <a:r>
              <a:rPr lang="en-US" sz="1600" b="0" i="0" dirty="0">
                <a:effectLst/>
                <a:latin typeface="Figtree"/>
              </a:rPr>
              <a:t> across all suppliers — non-compliant suppliers on immediate probation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6A6D70-01A1-35EE-1E98-163485FAA71F}"/>
              </a:ext>
            </a:extLst>
          </p:cNvPr>
          <p:cNvSpPr txBox="1"/>
          <p:nvPr/>
        </p:nvSpPr>
        <p:spPr>
          <a:xfrm>
            <a:off x="4222886" y="2119429"/>
            <a:ext cx="5478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Figtree"/>
              </a:rPr>
              <a:t>Switch </a:t>
            </a:r>
            <a:r>
              <a:rPr lang="en-US" b="1" i="0" dirty="0">
                <a:solidFill>
                  <a:schemeClr val="bg1"/>
                </a:solidFill>
                <a:effectLst/>
                <a:latin typeface="Figtree"/>
              </a:rPr>
              <a:t>37 SKUs from Route B to Route A</a:t>
            </a:r>
            <a:r>
              <a:rPr lang="en-US" b="0" i="0" dirty="0">
                <a:solidFill>
                  <a:schemeClr val="bg1"/>
                </a:solidFill>
                <a:effectLst/>
                <a:latin typeface="Figtree"/>
              </a:rPr>
              <a:t> — saves $4,107 per cycle, zero disruption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DF54987-82F1-BCCD-9F95-A897EB119FCA}"/>
              </a:ext>
            </a:extLst>
          </p:cNvPr>
          <p:cNvSpPr txBox="1"/>
          <p:nvPr/>
        </p:nvSpPr>
        <p:spPr>
          <a:xfrm>
            <a:off x="4222885" y="2958771"/>
            <a:ext cx="696857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Implement </a:t>
            </a:r>
            <a:r>
              <a:rPr lang="en-US" sz="1600" b="1" dirty="0"/>
              <a:t>real-time inventory monitoring</a:t>
            </a:r>
            <a:r>
              <a:rPr lang="en-US" sz="1600" dirty="0"/>
              <a:t> — stockout alerts should trigger automatic replenishment orders before stock hits critical levels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effectLst/>
              <a:latin typeface="Figtree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A297B3A-989E-E0AC-B667-E5DCFE1597B9}"/>
              </a:ext>
            </a:extLst>
          </p:cNvPr>
          <p:cNvSpPr txBox="1"/>
          <p:nvPr/>
        </p:nvSpPr>
        <p:spPr>
          <a:xfrm>
            <a:off x="4222886" y="3735165"/>
            <a:ext cx="72071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Migrate all eligible shipments to </a:t>
            </a:r>
            <a:r>
              <a:rPr lang="en-US" b="1" dirty="0"/>
              <a:t>cost-efficient routing</a:t>
            </a:r>
            <a:r>
              <a:rPr lang="en-US" dirty="0"/>
              <a:t> — current routing decisions are costing the business unnecessarily with no service advantage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igtree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74D3E7D-13F0-6A65-AE3D-A1DED46C093D}"/>
              </a:ext>
            </a:extLst>
          </p:cNvPr>
          <p:cNvSpPr txBox="1"/>
          <p:nvPr/>
        </p:nvSpPr>
        <p:spPr>
          <a:xfrm>
            <a:off x="4222886" y="4545469"/>
            <a:ext cx="547894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Make </a:t>
            </a:r>
            <a:r>
              <a:rPr lang="en-US" sz="1600" b="1" dirty="0"/>
              <a:t>inspection clearance mandatory before dispatch</a:t>
            </a:r>
            <a:r>
              <a:rPr lang="en-US" sz="1600" dirty="0"/>
              <a:t> — no SKU should reach the market without a confirmed Pass status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effectLst/>
              <a:latin typeface="Figtree"/>
            </a:endParaRPr>
          </a:p>
        </p:txBody>
      </p:sp>
      <p:pic>
        <p:nvPicPr>
          <p:cNvPr id="9236" name="Picture 20" descr="Team ">
            <a:extLst>
              <a:ext uri="{FF2B5EF4-FFF2-40B4-BE49-F238E27FC236}">
                <a16:creationId xmlns:a16="http://schemas.microsoft.com/office/drawing/2014/main" id="{40BBE269-D59E-26D2-07BC-4C01429B4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379" y="122319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8" name="Picture 22" descr="Switch ">
            <a:extLst>
              <a:ext uri="{FF2B5EF4-FFF2-40B4-BE49-F238E27FC236}">
                <a16:creationId xmlns:a16="http://schemas.microsoft.com/office/drawing/2014/main" id="{CF1CD7D1-A81B-61F5-4F11-7F2821960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723" y="2216426"/>
            <a:ext cx="523256" cy="53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40" name="Picture 24" descr="Financial protection ">
            <a:extLst>
              <a:ext uri="{FF2B5EF4-FFF2-40B4-BE49-F238E27FC236}">
                <a16:creationId xmlns:a16="http://schemas.microsoft.com/office/drawing/2014/main" id="{D14AD792-820B-C73C-9D4D-02B9E5903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551" y="2999408"/>
            <a:ext cx="609600" cy="52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42" name="Picture 26" descr="Reduce ">
            <a:extLst>
              <a:ext uri="{FF2B5EF4-FFF2-40B4-BE49-F238E27FC236}">
                <a16:creationId xmlns:a16="http://schemas.microsoft.com/office/drawing/2014/main" id="{67F267E8-4856-AAA6-0DBF-E42BA5317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551" y="375713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44" name="Picture 28" descr="Identify ">
            <a:extLst>
              <a:ext uri="{FF2B5EF4-FFF2-40B4-BE49-F238E27FC236}">
                <a16:creationId xmlns:a16="http://schemas.microsoft.com/office/drawing/2014/main" id="{1959CD58-2C58-194D-5793-29B05EB4D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073" y="45822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EC5EFB76-E240-198E-5248-10C62A2E8D24}"/>
              </a:ext>
            </a:extLst>
          </p:cNvPr>
          <p:cNvSpPr/>
          <p:nvPr/>
        </p:nvSpPr>
        <p:spPr>
          <a:xfrm>
            <a:off x="1" y="5436704"/>
            <a:ext cx="12192000" cy="142129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D5AD120-5B4C-7522-4CFD-F94AD47343D7}"/>
              </a:ext>
            </a:extLst>
          </p:cNvPr>
          <p:cNvSpPr txBox="1"/>
          <p:nvPr/>
        </p:nvSpPr>
        <p:spPr>
          <a:xfrm>
            <a:off x="2215790" y="5523687"/>
            <a:ext cx="26051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600" b="0" i="0" dirty="0">
                <a:effectLst/>
                <a:latin typeface="Figtree"/>
              </a:rPr>
              <a:t>A </a:t>
            </a:r>
            <a:r>
              <a:rPr lang="en-US" sz="1600" b="1" i="0" dirty="0">
                <a:effectLst/>
                <a:latin typeface="Figtree"/>
              </a:rPr>
              <a:t>90% gross margin business</a:t>
            </a:r>
            <a:r>
              <a:rPr lang="en-US" sz="1600" b="0" i="0" dirty="0">
                <a:effectLst/>
                <a:latin typeface="Figtree"/>
              </a:rPr>
              <a:t> is being undermined by avoidable operational failures in quality and inventory</a:t>
            </a:r>
          </a:p>
        </p:txBody>
      </p:sp>
      <p:pic>
        <p:nvPicPr>
          <p:cNvPr id="9256" name="Picture 40" descr="Post it ">
            <a:extLst>
              <a:ext uri="{FF2B5EF4-FFF2-40B4-BE49-F238E27FC236}">
                <a16:creationId xmlns:a16="http://schemas.microsoft.com/office/drawing/2014/main" id="{8F15E353-84F2-A11E-ABB2-2365BEDCC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543" y="5543297"/>
            <a:ext cx="433598" cy="43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7B545A44-3B91-9EDB-9EED-196ADA2B3FF7}"/>
              </a:ext>
            </a:extLst>
          </p:cNvPr>
          <p:cNvSpPr txBox="1"/>
          <p:nvPr/>
        </p:nvSpPr>
        <p:spPr>
          <a:xfrm>
            <a:off x="5546725" y="5530354"/>
            <a:ext cx="29378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Figtree"/>
              </a:rPr>
              <a:t>47% of total revenue ($273K)</a:t>
            </a:r>
            <a:r>
              <a:rPr lang="en-US" sz="1600" b="0" i="0" dirty="0">
                <a:effectLst/>
                <a:latin typeface="Figtree"/>
              </a:rPr>
              <a:t> remains at risk until quality control and stock management are overhauled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BED5A7-993C-F0A7-1205-0E0FCCA74081}"/>
              </a:ext>
            </a:extLst>
          </p:cNvPr>
          <p:cNvSpPr txBox="1"/>
          <p:nvPr/>
        </p:nvSpPr>
        <p:spPr>
          <a:xfrm>
            <a:off x="9034670" y="5514965"/>
            <a:ext cx="27361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igtree"/>
              </a:rPr>
              <a:t>The supply chain has the </a:t>
            </a:r>
            <a:r>
              <a:rPr lang="en-US" sz="1600" b="1" i="0" dirty="0">
                <a:effectLst/>
                <a:latin typeface="Figtree"/>
              </a:rPr>
              <a:t>foundation to scale</a:t>
            </a:r>
            <a:r>
              <a:rPr lang="en-US" sz="1600" b="0" i="0" dirty="0">
                <a:effectLst/>
                <a:latin typeface="Figtree"/>
              </a:rPr>
              <a:t> — but only after inspection, routing and production discipline are enforced</a:t>
            </a:r>
          </a:p>
        </p:txBody>
      </p:sp>
      <p:pic>
        <p:nvPicPr>
          <p:cNvPr id="98" name="Picture 40" descr="Post it ">
            <a:extLst>
              <a:ext uri="{FF2B5EF4-FFF2-40B4-BE49-F238E27FC236}">
                <a16:creationId xmlns:a16="http://schemas.microsoft.com/office/drawing/2014/main" id="{6213CC70-CB00-A26A-EE22-26139A43B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423" y="5530354"/>
            <a:ext cx="433598" cy="43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40" descr="Post it ">
            <a:extLst>
              <a:ext uri="{FF2B5EF4-FFF2-40B4-BE49-F238E27FC236}">
                <a16:creationId xmlns:a16="http://schemas.microsoft.com/office/drawing/2014/main" id="{007BE85A-0B19-F9BE-BB9C-EE6E25BF5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890" y="5543297"/>
            <a:ext cx="433598" cy="43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58" name="Picture 42" descr="Tutor ">
            <a:extLst>
              <a:ext uri="{FF2B5EF4-FFF2-40B4-BE49-F238E27FC236}">
                <a16:creationId xmlns:a16="http://schemas.microsoft.com/office/drawing/2014/main" id="{3D2F0A4A-A443-405F-3F16-70A587F29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88" y="1144843"/>
            <a:ext cx="2463872" cy="402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Arrow: Pentagon 99">
            <a:extLst>
              <a:ext uri="{FF2B5EF4-FFF2-40B4-BE49-F238E27FC236}">
                <a16:creationId xmlns:a16="http://schemas.microsoft.com/office/drawing/2014/main" id="{5E53964D-0191-3282-56CF-35B3731F80C7}"/>
              </a:ext>
            </a:extLst>
          </p:cNvPr>
          <p:cNvSpPr/>
          <p:nvPr/>
        </p:nvSpPr>
        <p:spPr>
          <a:xfrm>
            <a:off x="-23624" y="5436704"/>
            <a:ext cx="1689342" cy="1421295"/>
          </a:xfrm>
          <a:prstGeom prst="homePlate">
            <a:avLst/>
          </a:prstGeom>
          <a:solidFill>
            <a:srgbClr val="FFC000">
              <a:alpha val="92000"/>
            </a:srgbClr>
          </a:solidFill>
          <a:effectLst>
            <a:outerShdw blurRad="50800" dist="50800" dir="2154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49CBA8F-8EAA-94C1-ABFF-0D0C27D56376}"/>
              </a:ext>
            </a:extLst>
          </p:cNvPr>
          <p:cNvSpPr txBox="1"/>
          <p:nvPr/>
        </p:nvSpPr>
        <p:spPr>
          <a:xfrm rot="16200000">
            <a:off x="-449887" y="5780055"/>
            <a:ext cx="1806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95056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5766</TotalTime>
  <Words>721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Figtree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srinivasa</dc:creator>
  <cp:lastModifiedBy>sahana srinivasa</cp:lastModifiedBy>
  <cp:revision>3</cp:revision>
  <dcterms:created xsi:type="dcterms:W3CDTF">2026-04-19T05:59:04Z</dcterms:created>
  <dcterms:modified xsi:type="dcterms:W3CDTF">2026-04-23T06:05:11Z</dcterms:modified>
</cp:coreProperties>
</file>